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2400000" cy="4320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400000" cy="504000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80000" y="540000"/>
            <a:ext cx="30240000" cy="2880000"/>
          </a:xfrm>
          <a:prstGeom prst="rect">
            <a:avLst/>
          </a:prstGeom>
          <a:noFill/>
        </p:spPr>
        <p:txBody>
          <a:bodyPr wrap="square">
            <a:spAutoFit/>
          </a:bodyPr>
          <a:lstStyle/>
          <a:p>
            <a:pPr>
              <a:defRPr sz="6600" b="1">
                <a:solidFill>
                  <a:srgbClr val="FFFFFF"/>
                </a:solidFill>
              </a:defRPr>
            </a:pPr>
            <a:r>
              <a:t>Breeding Smarter: A Data-Driven Matching System for Genetic Diversity in Dogs and Beyond</a:t>
            </a:r>
          </a:p>
        </p:txBody>
      </p:sp>
      <p:sp>
        <p:nvSpPr>
          <p:cNvPr id="4" name="TextBox 3"/>
          <p:cNvSpPr txBox="1"/>
          <p:nvPr/>
        </p:nvSpPr>
        <p:spPr>
          <a:xfrm>
            <a:off x="1080000" y="3600000"/>
            <a:ext cx="30240000" cy="1080000"/>
          </a:xfrm>
          <a:prstGeom prst="rect">
            <a:avLst/>
          </a:prstGeom>
          <a:noFill/>
        </p:spPr>
        <p:txBody>
          <a:bodyPr wrap="square">
            <a:spAutoFit/>
          </a:bodyPr>
          <a:lstStyle/>
          <a:p>
            <a:pPr>
              <a:defRPr sz="3200" b="0">
                <a:solidFill>
                  <a:srgbClr val="FFFFFF"/>
                </a:solidFill>
              </a:defRPr>
            </a:pPr>
            <a:r>
              <a:t>Tea Ćetojević Tisaj, TODO colleague · University of Zagreb, FER  [FER logo]</a:t>
            </a:r>
          </a:p>
        </p:txBody>
      </p:sp>
      <p:sp>
        <p:nvSpPr>
          <p:cNvPr id="5" name="TextBox 4"/>
          <p:cNvSpPr txBox="1"/>
          <p:nvPr/>
        </p:nvSpPr>
        <p:spPr>
          <a:xfrm>
            <a:off x="1080000" y="5760000"/>
            <a:ext cx="30240000" cy="720000"/>
          </a:xfrm>
          <a:prstGeom prst="rect">
            <a:avLst/>
          </a:prstGeom>
          <a:noFill/>
        </p:spPr>
        <p:txBody>
          <a:bodyPr wrap="square">
            <a:spAutoFit/>
          </a:bodyPr>
          <a:lstStyle/>
          <a:p>
            <a:pPr>
              <a:defRPr sz="4400" b="1">
                <a:solidFill>
                  <a:srgbClr val="0072B2"/>
                </a:solidFill>
              </a:defRPr>
            </a:pPr>
            <a:r>
              <a:t>The problem</a:t>
            </a:r>
          </a:p>
        </p:txBody>
      </p:sp>
      <p:sp>
        <p:nvSpPr>
          <p:cNvPr id="6" name="TextBox 5"/>
          <p:cNvSpPr txBox="1"/>
          <p:nvPr/>
        </p:nvSpPr>
        <p:spPr>
          <a:xfrm>
            <a:off x="1080000" y="6588000"/>
            <a:ext cx="30240000" cy="2052000"/>
          </a:xfrm>
          <a:prstGeom prst="rect">
            <a:avLst/>
          </a:prstGeom>
          <a:noFill/>
        </p:spPr>
        <p:txBody>
          <a:bodyPr wrap="square">
            <a:spAutoFit/>
          </a:bodyPr>
          <a:lstStyle/>
          <a:p>
            <a:pPr>
              <a:defRPr sz="3000" b="0"/>
            </a:pPr>
            <a:r>
              <a:t>• Purebred dogs: mean genomic inbreeding 0.249 across 227 breeds.</a:t>
            </a:r>
          </a:p>
          <a:p>
            <a:pPr>
              <a:defRPr sz="3000" b="0"/>
            </a:pPr>
            <a:r>
              <a:t>• Popular sires in all 215 Kennel Club breeds.</a:t>
            </a:r>
          </a:p>
          <a:p>
            <a:pPr>
              <a:defRPr sz="3000" b="0"/>
            </a:pPr>
            <a:r>
              <a:t>• 57% of 1,054,293 dogs carry a disease variant.</a:t>
            </a:r>
          </a:p>
        </p:txBody>
      </p:sp>
      <p:sp>
        <p:nvSpPr>
          <p:cNvPr id="7" name="TextBox 6"/>
          <p:cNvSpPr txBox="1"/>
          <p:nvPr/>
        </p:nvSpPr>
        <p:spPr>
          <a:xfrm>
            <a:off x="1080000" y="8640000"/>
            <a:ext cx="30240000" cy="720000"/>
          </a:xfrm>
          <a:prstGeom prst="rect">
            <a:avLst/>
          </a:prstGeom>
          <a:noFill/>
        </p:spPr>
        <p:txBody>
          <a:bodyPr wrap="square">
            <a:spAutoFit/>
          </a:bodyPr>
          <a:lstStyle/>
          <a:p>
            <a:pPr>
              <a:defRPr sz="4400" b="1">
                <a:solidFill>
                  <a:srgbClr val="0072B2"/>
                </a:solidFill>
              </a:defRPr>
            </a:pPr>
            <a:r>
              <a:t>Why now</a:t>
            </a:r>
          </a:p>
        </p:txBody>
      </p:sp>
      <p:sp>
        <p:nvSpPr>
          <p:cNvPr id="8" name="TextBox 7"/>
          <p:cNvSpPr txBox="1"/>
          <p:nvPr/>
        </p:nvSpPr>
        <p:spPr>
          <a:xfrm>
            <a:off x="1080000" y="9468000"/>
            <a:ext cx="30240000" cy="792000"/>
          </a:xfrm>
          <a:prstGeom prst="rect">
            <a:avLst/>
          </a:prstGeom>
          <a:noFill/>
        </p:spPr>
        <p:txBody>
          <a:bodyPr wrap="square">
            <a:spAutoFit/>
          </a:bodyPr>
          <a:lstStyle/>
          <a:p>
            <a:pPr>
              <a:defRPr sz="3000" b="0"/>
            </a:pPr>
            <a:r>
              <a:t>EU Regulation 2026/1818 bans close-relative matings across the EU.</a:t>
            </a:r>
          </a:p>
        </p:txBody>
      </p:sp>
      <p:sp>
        <p:nvSpPr>
          <p:cNvPr id="9" name="TextBox 8"/>
          <p:cNvSpPr txBox="1"/>
          <p:nvPr/>
        </p:nvSpPr>
        <p:spPr>
          <a:xfrm>
            <a:off x="1080000" y="10260000"/>
            <a:ext cx="30240000" cy="720000"/>
          </a:xfrm>
          <a:prstGeom prst="rect">
            <a:avLst/>
          </a:prstGeom>
          <a:noFill/>
        </p:spPr>
        <p:txBody>
          <a:bodyPr wrap="square">
            <a:spAutoFit/>
          </a:bodyPr>
          <a:lstStyle/>
          <a:p>
            <a:pPr>
              <a:defRPr sz="4400" b="1">
                <a:solidFill>
                  <a:srgbClr val="0072B2"/>
                </a:solidFill>
              </a:defRPr>
            </a:pPr>
            <a:r>
              <a:t>What we built</a:t>
            </a:r>
          </a:p>
        </p:txBody>
      </p:sp>
      <p:sp>
        <p:nvSpPr>
          <p:cNvPr id="10" name="TextBox 9"/>
          <p:cNvSpPr txBox="1"/>
          <p:nvPr/>
        </p:nvSpPr>
        <p:spPr>
          <a:xfrm>
            <a:off x="1080000" y="11088000"/>
            <a:ext cx="30240000" cy="1872000"/>
          </a:xfrm>
          <a:prstGeom prst="rect">
            <a:avLst/>
          </a:prstGeom>
          <a:noFill/>
        </p:spPr>
        <p:txBody>
          <a:bodyPr wrap="square">
            <a:spAutoFit/>
          </a:bodyPr>
          <a:lstStyle/>
          <a:p>
            <a:pPr>
              <a:defRPr sz="3000" b="0"/>
            </a:pPr>
            <a:r>
              <a:t>An open engine: exact inbreeding and kinship, EU, FCI and kennel-club rules, and an explained score for every candidate sire. Tested on a calibrated synthetic registry (153,641 dogs; 39 of 47 calibration checks pass, 8 soft warnings, 0 failures).</a:t>
            </a:r>
          </a:p>
        </p:txBody>
      </p:sp>
      <p:sp>
        <p:nvSpPr>
          <p:cNvPr id="11" name="TextBox 10"/>
          <p:cNvSpPr txBox="1"/>
          <p:nvPr/>
        </p:nvSpPr>
        <p:spPr>
          <a:xfrm>
            <a:off x="1080000" y="12960000"/>
            <a:ext cx="30240000" cy="900000"/>
          </a:xfrm>
          <a:prstGeom prst="rect">
            <a:avLst/>
          </a:prstGeom>
          <a:noFill/>
        </p:spPr>
        <p:txBody>
          <a:bodyPr wrap="square">
            <a:spAutoFit/>
          </a:bodyPr>
          <a:lstStyle/>
          <a:p>
            <a:pPr>
              <a:defRPr sz="2400" b="0"/>
            </a:pPr>
            <a:r>
              <a:t>[pipeline diagram: insert conference/poster/pipeline.svg]</a:t>
            </a:r>
          </a:p>
        </p:txBody>
      </p:sp>
      <p:sp>
        <p:nvSpPr>
          <p:cNvPr id="12" name="TextBox 11"/>
          <p:cNvSpPr txBox="1"/>
          <p:nvPr/>
        </p:nvSpPr>
        <p:spPr>
          <a:xfrm>
            <a:off x="1080000" y="14040000"/>
            <a:ext cx="30240000" cy="720000"/>
          </a:xfrm>
          <a:prstGeom prst="rect">
            <a:avLst/>
          </a:prstGeom>
          <a:noFill/>
        </p:spPr>
        <p:txBody>
          <a:bodyPr wrap="square">
            <a:spAutoFit/>
          </a:bodyPr>
          <a:lstStyle/>
          <a:p>
            <a:pPr>
              <a:defRPr sz="4400" b="1">
                <a:solidFill>
                  <a:srgbClr val="0072B2"/>
                </a:solidFill>
              </a:defRPr>
            </a:pPr>
            <a:r>
              <a:t>Recorded COI hides inbreeding</a:t>
            </a:r>
          </a:p>
        </p:txBody>
      </p:sp>
      <p:sp>
        <p:nvSpPr>
          <p:cNvPr id="13" name="TextBox 12"/>
          <p:cNvSpPr txBox="1"/>
          <p:nvPr/>
        </p:nvSpPr>
        <p:spPr>
          <a:xfrm>
            <a:off x="1080000" y="14867999"/>
            <a:ext cx="30240000" cy="900000"/>
          </a:xfrm>
          <a:prstGeom prst="rect">
            <a:avLst/>
          </a:prstGeom>
          <a:noFill/>
        </p:spPr>
        <p:txBody>
          <a:bodyPr wrap="square">
            <a:spAutoFit/>
          </a:bodyPr>
          <a:lstStyle/>
          <a:p>
            <a:pPr>
              <a:defRPr sz="3000" b="0"/>
            </a:pPr>
            <a:r>
              <a:t>2025 puppies of the small breed: recorded COI 10.9%, true inbreeding 43.7%.</a:t>
            </a:r>
          </a:p>
        </p:txBody>
      </p:sp>
      <p:pic>
        <p:nvPicPr>
          <p:cNvPr id="14" name="Picture 13" descr="fig4_recorded_vs_true_f_poster.png"/>
          <p:cNvPicPr>
            <a:picLocks noChangeAspect="1"/>
          </p:cNvPicPr>
          <p:nvPr/>
        </p:nvPicPr>
        <p:blipFill>
          <a:blip r:embed="rId2"/>
          <a:stretch>
            <a:fillRect/>
          </a:stretch>
        </p:blipFill>
        <p:spPr>
          <a:xfrm>
            <a:off x="1080000" y="15840000"/>
            <a:ext cx="30240000" cy="9162066"/>
          </a:xfrm>
          <a:prstGeom prst="rect">
            <a:avLst/>
          </a:prstGeom>
        </p:spPr>
      </p:pic>
      <p:sp>
        <p:nvSpPr>
          <p:cNvPr id="15" name="TextBox 14"/>
          <p:cNvSpPr txBox="1"/>
          <p:nvPr/>
        </p:nvSpPr>
        <p:spPr>
          <a:xfrm>
            <a:off x="1080000" y="25362065"/>
            <a:ext cx="14760000" cy="720000"/>
          </a:xfrm>
          <a:prstGeom prst="rect">
            <a:avLst/>
          </a:prstGeom>
          <a:noFill/>
        </p:spPr>
        <p:txBody>
          <a:bodyPr wrap="square">
            <a:spAutoFit/>
          </a:bodyPr>
          <a:lstStyle/>
          <a:p>
            <a:pPr>
              <a:defRPr sz="4400" b="1">
                <a:solidFill>
                  <a:srgbClr val="0072B2"/>
                </a:solidFill>
              </a:defRPr>
            </a:pPr>
            <a:r>
              <a:t>Does it work?</a:t>
            </a:r>
          </a:p>
        </p:txBody>
      </p:sp>
      <p:sp>
        <p:nvSpPr>
          <p:cNvPr id="16" name="TextBox 15"/>
          <p:cNvSpPr txBox="1"/>
          <p:nvPr/>
        </p:nvSpPr>
        <p:spPr>
          <a:xfrm>
            <a:off x="1080000" y="26190065"/>
            <a:ext cx="14760000" cy="3240000"/>
          </a:xfrm>
          <a:prstGeom prst="rect">
            <a:avLst/>
          </a:prstGeom>
          <a:noFill/>
        </p:spPr>
        <p:txBody>
          <a:bodyPr wrap="square">
            <a:spAutoFit/>
          </a:bodyPr>
          <a:lstStyle/>
          <a:p>
            <a:pPr>
              <a:defRPr sz="2800" b="0"/>
            </a:pPr>
            <a:r>
              <a:t>Ten simulated generations: the recommender cut realised inbreeding by 1.5 points in the small breed and nearly removed affected puppies at tested loci, but breeders all chose the same sires. Club quotas fix this: coordinated sire planning raised Ne from 33 (today's market) to 54 in the small breed and from 188 to 283 in the medium breed; the recommender within quotas did as well. Random mating still kept the most diversity in the medium breed.</a:t>
            </a:r>
          </a:p>
        </p:txBody>
      </p:sp>
      <p:pic>
        <p:nvPicPr>
          <p:cNvPr id="17" name="Picture 16" descr="figG_coordination_poster.png"/>
          <p:cNvPicPr>
            <a:picLocks noChangeAspect="1"/>
          </p:cNvPicPr>
          <p:nvPr/>
        </p:nvPicPr>
        <p:blipFill>
          <a:blip r:embed="rId3"/>
          <a:stretch>
            <a:fillRect/>
          </a:stretch>
        </p:blipFill>
        <p:spPr>
          <a:xfrm>
            <a:off x="1080000" y="29502065"/>
            <a:ext cx="14760000" cy="5477093"/>
          </a:xfrm>
          <a:prstGeom prst="rect">
            <a:avLst/>
          </a:prstGeom>
        </p:spPr>
      </p:pic>
      <p:sp>
        <p:nvSpPr>
          <p:cNvPr id="18" name="TextBox 17"/>
          <p:cNvSpPr txBox="1"/>
          <p:nvPr/>
        </p:nvSpPr>
        <p:spPr>
          <a:xfrm>
            <a:off x="16560000" y="25362065"/>
            <a:ext cx="14760000" cy="720000"/>
          </a:xfrm>
          <a:prstGeom prst="rect">
            <a:avLst/>
          </a:prstGeom>
          <a:noFill/>
        </p:spPr>
        <p:txBody>
          <a:bodyPr wrap="square">
            <a:spAutoFit/>
          </a:bodyPr>
          <a:lstStyle/>
          <a:p>
            <a:pPr>
              <a:defRPr sz="4400" b="1">
                <a:solidFill>
                  <a:srgbClr val="0072B2"/>
                </a:solidFill>
              </a:defRPr>
            </a:pPr>
            <a:r>
              <a:t>Explainable matches</a:t>
            </a:r>
          </a:p>
        </p:txBody>
      </p:sp>
      <p:pic>
        <p:nvPicPr>
          <p:cNvPr id="19" name="Picture 18" descr="scorecard.png"/>
          <p:cNvPicPr>
            <a:picLocks noChangeAspect="1"/>
          </p:cNvPicPr>
          <p:nvPr/>
        </p:nvPicPr>
        <p:blipFill>
          <a:blip r:embed="rId4"/>
          <a:stretch>
            <a:fillRect/>
          </a:stretch>
        </p:blipFill>
        <p:spPr>
          <a:xfrm>
            <a:off x="16560000" y="26262065"/>
            <a:ext cx="14760000" cy="7674180"/>
          </a:xfrm>
          <a:prstGeom prst="rect">
            <a:avLst/>
          </a:prstGeom>
        </p:spPr>
      </p:pic>
      <p:sp>
        <p:nvSpPr>
          <p:cNvPr id="20" name="TextBox 19"/>
          <p:cNvSpPr txBox="1"/>
          <p:nvPr/>
        </p:nvSpPr>
        <p:spPr>
          <a:xfrm>
            <a:off x="1080000" y="35339159"/>
            <a:ext cx="14760000" cy="720000"/>
          </a:xfrm>
          <a:prstGeom prst="rect">
            <a:avLst/>
          </a:prstGeom>
          <a:noFill/>
        </p:spPr>
        <p:txBody>
          <a:bodyPr wrap="square">
            <a:spAutoFit/>
          </a:bodyPr>
          <a:lstStyle/>
          <a:p>
            <a:pPr>
              <a:defRPr sz="4000" b="1">
                <a:solidFill>
                  <a:srgbClr val="0072B2"/>
                </a:solidFill>
              </a:defRPr>
            </a:pPr>
            <a:r>
              <a:t>Honesty box</a:t>
            </a:r>
          </a:p>
        </p:txBody>
      </p:sp>
      <p:sp>
        <p:nvSpPr>
          <p:cNvPr id="21" name="TextBox 20"/>
          <p:cNvSpPr txBox="1"/>
          <p:nvPr/>
        </p:nvSpPr>
        <p:spPr>
          <a:xfrm>
            <a:off x="1080000" y="36167159"/>
            <a:ext cx="14760000" cy="2160000"/>
          </a:xfrm>
          <a:prstGeom prst="rect">
            <a:avLst/>
          </a:prstGeom>
          <a:noFill/>
        </p:spPr>
        <p:txBody>
          <a:bodyPr wrap="square">
            <a:spAutoFit/>
          </a:bodyPr>
          <a:lstStyle/>
          <a:p>
            <a:pPr>
              <a:defRPr sz="2800" b="0"/>
            </a:pPr>
            <a:r>
              <a:t>All dogs are synthetic. Results are in silico. Some EU rules are not yet verified.</a:t>
            </a:r>
          </a:p>
        </p:txBody>
      </p:sp>
      <p:sp>
        <p:nvSpPr>
          <p:cNvPr id="22" name="TextBox 21"/>
          <p:cNvSpPr txBox="1"/>
          <p:nvPr/>
        </p:nvSpPr>
        <p:spPr>
          <a:xfrm>
            <a:off x="16560000" y="35339159"/>
            <a:ext cx="14760000" cy="720000"/>
          </a:xfrm>
          <a:prstGeom prst="rect">
            <a:avLst/>
          </a:prstGeom>
          <a:noFill/>
        </p:spPr>
        <p:txBody>
          <a:bodyPr wrap="square">
            <a:spAutoFit/>
          </a:bodyPr>
          <a:lstStyle/>
          <a:p>
            <a:pPr>
              <a:defRPr sz="4000" b="1">
                <a:solidFill>
                  <a:srgbClr val="0072B2"/>
                </a:solidFill>
              </a:defRPr>
            </a:pPr>
            <a:r>
              <a:t>Partner with us</a:t>
            </a:r>
          </a:p>
        </p:txBody>
      </p:sp>
      <p:sp>
        <p:nvSpPr>
          <p:cNvPr id="23" name="TextBox 22"/>
          <p:cNvSpPr txBox="1"/>
          <p:nvPr/>
        </p:nvSpPr>
        <p:spPr>
          <a:xfrm>
            <a:off x="16560000" y="36167159"/>
            <a:ext cx="14760000" cy="2160000"/>
          </a:xfrm>
          <a:prstGeom prst="rect">
            <a:avLst/>
          </a:prstGeom>
          <a:noFill/>
        </p:spPr>
        <p:txBody>
          <a:bodyPr wrap="square">
            <a:spAutoFit/>
          </a:bodyPr>
          <a:lstStyle/>
          <a:p>
            <a:pPr>
              <a:defRPr sz="2800" b="0"/>
            </a:pPr>
            <a:r>
              <a:t>Free pilot for kennel and breed clubs; code runs on your premises.</a:t>
            </a:r>
          </a:p>
          <a:p>
            <a:pPr>
              <a:defRPr sz="2800" b="0"/>
            </a:pPr>
            <a:r>
              <a:t>[QR: demo, DOI, contact]</a:t>
            </a:r>
          </a:p>
        </p:txBody>
      </p:sp>
      <p:sp>
        <p:nvSpPr>
          <p:cNvPr id="24" name="TextBox 23"/>
          <p:cNvSpPr txBox="1"/>
          <p:nvPr/>
        </p:nvSpPr>
        <p:spPr>
          <a:xfrm>
            <a:off x="1080000" y="41760000"/>
            <a:ext cx="30240000" cy="1080000"/>
          </a:xfrm>
          <a:prstGeom prst="rect">
            <a:avLst/>
          </a:prstGeom>
          <a:noFill/>
        </p:spPr>
        <p:txBody>
          <a:bodyPr wrap="square">
            <a:spAutoFit/>
          </a:bodyPr>
          <a:lstStyle/>
          <a:p>
            <a:pPr>
              <a:defRPr sz="2000" b="0"/>
            </a:pPr>
            <a:r>
              <a:t>Refs: Bannasch 2021; Lewis 2015; Donner 2023; Meuwissen and Luo 1992; Colleau 2002.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