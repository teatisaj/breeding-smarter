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400000" cy="432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0" cy="5040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0000" y="540000"/>
            <a:ext cx="3024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600" b="1">
                <a:solidFill>
                  <a:srgbClr val="FFFFFF"/>
                </a:solidFill>
              </a:defRPr>
            </a:pPr>
            <a:r>
              <a:t>Breeding Smarter: A Data-Driven Matching System for Genetic Diversity in Dogs and 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600000"/>
            <a:ext cx="302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0">
                <a:solidFill>
                  <a:srgbClr val="FFFFFF"/>
                </a:solidFill>
              </a:defRPr>
            </a:pPr>
            <a:r>
              <a:t>Tea Ćetojević Tisaj, Marija Perković · University of Zagreb, FER  [FER logo]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5760000"/>
            <a:ext cx="30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72B2"/>
                </a:solidFill>
              </a:defRPr>
            </a:pPr>
            <a: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6588000"/>
            <a:ext cx="30240000" cy="20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0"/>
            </a:pPr>
            <a:r>
              <a:t>• Purebred dogs: mean genomic inbreeding 0.249 across 227 breeds.</a:t>
            </a:r>
          </a:p>
          <a:p>
            <a:pPr>
              <a:defRPr sz="3000" b="0"/>
            </a:pPr>
            <a:r>
              <a:t>• Popular sires in all 215 Kennel Club breeds.</a:t>
            </a:r>
          </a:p>
          <a:p>
            <a:pPr>
              <a:defRPr sz="3000" b="0"/>
            </a:pPr>
            <a:r>
              <a:t>• 57% of 1,054,293 dogs carry a disease variant.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8640000"/>
            <a:ext cx="30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72B2"/>
                </a:solidFill>
              </a:defRPr>
            </a:pPr>
            <a:r>
              <a:t>Why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9468000"/>
            <a:ext cx="3024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0"/>
            </a:pPr>
            <a:r>
              <a:t>EU Regulation 2026/1818 bans close-relative matings. Clubs must check every mating, but today they have lookup tools, not decision tools.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10620000"/>
            <a:ext cx="30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72B2"/>
                </a:solidFill>
              </a:defRPr>
            </a:pPr>
            <a:r>
              <a:t>One engine, three tools for a kennel club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11448000"/>
            <a:ext cx="30240000" cy="313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0"/>
            </a:pPr>
            <a:r>
              <a:t>• **Breeders: Mate finder.** Every candidate sire ranked and explained: inbreeding, breed diversity, DNA risk, hips, sire use, rules.</a:t>
            </a:r>
          </a:p>
          <a:p>
            <a:pPr>
              <a:defRPr sz="3000" b="0"/>
            </a:pPr>
            <a:r>
              <a:t>• **Breeding officer: Kennel club desk.** Mating applications checked against EU, FCI and club rules before the mating.</a:t>
            </a:r>
          </a:p>
          <a:p>
            <a:pPr>
              <a:defRPr sz="3000" b="0"/>
            </a:pPr>
            <a:r>
              <a:t>• **Breeding committee: Club planner.** Yearly litter quotas per sire: the club sets an inbreeding budget and sees what it buys.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000" y="14580000"/>
            <a:ext cx="302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/>
            </a:pPr>
            <a:r>
              <a:t>[pipeline diagram: insert conference/poster/pipeline.svg]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15660000"/>
            <a:ext cx="30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72B2"/>
                </a:solidFill>
              </a:defRPr>
            </a:pPr>
            <a:r>
              <a:t>Recorded COI hides inbreeding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16487999"/>
            <a:ext cx="302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0"/>
            </a:pPr>
            <a:r>
              <a:t>Small breed, 2025 puppies: recorded COI 10.9%, true inbreeding 43.7%.</a:t>
            </a:r>
          </a:p>
        </p:txBody>
      </p:sp>
      <p:pic>
        <p:nvPicPr>
          <p:cNvPr id="14" name="Picture 13" descr="fig4_recorded_vs_true_f_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0" y="17460000"/>
            <a:ext cx="30240000" cy="91620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0000" y="26982065"/>
            <a:ext cx="147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72B2"/>
                </a:solidFill>
              </a:defRPr>
            </a:pPr>
            <a:r>
              <a:t>Does it work?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27810065"/>
            <a:ext cx="14760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0"/>
            </a:pPr>
            <a:r>
              <a:t>Ten simulated generations on a calibrated synthetic registry (153,641 dogs), with criteria fixed before every run. Club quotas with a hips budget (inbreeding rise at most 0.1% per generation) and a carrier limit beat today's market on all three at once in the medium breed: Ne +85 (+48 to +122), hip breeding value -1.17, disease-allele frequency 79% lower. Replicated on an independent seed. At the lowest budget, diversity stayed at the level of plain quotas while hips and disease alleles still improved.</a:t>
            </a:r>
          </a:p>
        </p:txBody>
      </p:sp>
      <p:pic>
        <p:nvPicPr>
          <p:cNvPr id="17" name="Picture 16" descr="figN_policy_dial_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000" y="31122065"/>
            <a:ext cx="14760000" cy="645097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560000" y="26982065"/>
            <a:ext cx="147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72B2"/>
                </a:solidFill>
              </a:defRPr>
            </a:pPr>
            <a:r>
              <a:t>Explainable matches</a:t>
            </a:r>
          </a:p>
        </p:txBody>
      </p:sp>
      <p:pic>
        <p:nvPicPr>
          <p:cNvPr id="19" name="Picture 18" descr="score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0000" y="27882065"/>
            <a:ext cx="14760000" cy="76741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0000" y="37933044"/>
            <a:ext cx="147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72B2"/>
                </a:solidFill>
              </a:defRPr>
            </a:pPr>
            <a:r>
              <a:t>Honesty 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000" y="38761043"/>
            <a:ext cx="1476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0"/>
            </a:pPr>
            <a:r>
              <a:t>All dogs are synthetic; results are in silico. The carrier limit works when most breeders take part. Some EU rules are not yet verified.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560000" y="37933044"/>
            <a:ext cx="147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072B2"/>
                </a:solidFill>
              </a:defRPr>
            </a:pPr>
            <a:r>
              <a:t>Partner with 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560000" y="38761043"/>
            <a:ext cx="1476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0"/>
            </a:pPr>
            <a:r>
              <a:t>Free pilot for kennel and breed clubs: one breed, your data stays on your servers. Scan for the live demo and code.</a:t>
            </a:r>
          </a:p>
          <a:p>
            <a:pPr>
              <a:defRPr sz="2800" b="0"/>
            </a:pPr>
            <a:r>
              <a:t>[QR: demo, DOI, contact]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000" y="41760000"/>
            <a:ext cx="302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/>
            </a:pPr>
            <a:r>
              <a:t>Refs: Bannasch 2021; Lewis 2015; Donner 2023; Meuwissen and Luo 1992; Meuwissen 1997.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