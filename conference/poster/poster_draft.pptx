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2400000" cy="432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0" cy="5040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0000" y="540000"/>
            <a:ext cx="3024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6600" b="1">
                <a:solidFill>
                  <a:srgbClr val="FFFFFF"/>
                </a:solidFill>
              </a:defRPr>
            </a:pPr>
            <a:r>
              <a:t>Breeding Smarter: A Data-Driven Matching System for Genetic Diversity in Dogs and Beyond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0000" y="3600000"/>
            <a:ext cx="3024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0">
                <a:solidFill>
                  <a:srgbClr val="FFFFFF"/>
                </a:solidFill>
              </a:defRPr>
            </a:pPr>
            <a:r>
              <a:t>Tea Ćetojević Tisaj, TODO colleague · University of Zagreb, FER  [FER logo]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0000" y="5760000"/>
            <a:ext cx="302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0072B2"/>
                </a:solidFill>
              </a:defRPr>
            </a:pPr>
            <a: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0000" y="6588000"/>
            <a:ext cx="30240000" cy="205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0"/>
            </a:pPr>
            <a:r>
              <a:t>• Purebred dogs: mean genomic inbreeding 0.249 across 227 breeds.</a:t>
            </a:r>
          </a:p>
          <a:p>
            <a:pPr>
              <a:defRPr sz="3000" b="0"/>
            </a:pPr>
            <a:r>
              <a:t>• Popular sires in all 215 Kennel Club breeds.</a:t>
            </a:r>
          </a:p>
          <a:p>
            <a:pPr>
              <a:defRPr sz="3000" b="0"/>
            </a:pPr>
            <a:r>
              <a:t>• 57% of 1,054,293 dogs carry a disease variant.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" y="8640000"/>
            <a:ext cx="302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0072B2"/>
                </a:solidFill>
              </a:defRPr>
            </a:pPr>
            <a:r>
              <a:t>Why now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0000" y="9468000"/>
            <a:ext cx="3024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0"/>
            </a:pPr>
            <a:r>
              <a:t>EU Regulation 2026/1818 bans close-relative matings across the EU.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0000" y="10260000"/>
            <a:ext cx="302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0072B2"/>
                </a:solidFill>
              </a:defRPr>
            </a:pPr>
            <a:r>
              <a:t>What we built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0000" y="11088000"/>
            <a:ext cx="30240000" cy="18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0"/>
            </a:pPr>
            <a:r>
              <a:t>An open engine: exact inbreeding and kinship, EU, FCI and kennel-club rules, and an explained score for every candidate sire. Tested on a calibrated synthetic registry (153,641 dogs; 39 of 47 calibration checks pass, 8 soft warnings, 0 failures).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0000" y="12960000"/>
            <a:ext cx="3024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0"/>
            </a:pPr>
            <a:r>
              <a:t>[pipeline diagram: insert conference/poster/pipeline.svg]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0000" y="14040000"/>
            <a:ext cx="302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0072B2"/>
                </a:solidFill>
              </a:defRPr>
            </a:pPr>
            <a:r>
              <a:t>Recorded COI hides inbreeding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0000" y="14867999"/>
            <a:ext cx="3024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0"/>
            </a:pPr>
            <a:r>
              <a:t>2025 puppies of the small breed: recorded COI 10.9%, true inbreeding 43.7%.</a:t>
            </a:r>
          </a:p>
        </p:txBody>
      </p:sp>
      <p:pic>
        <p:nvPicPr>
          <p:cNvPr id="14" name="Picture 13" descr="fig4_recorded_vs_true_f_po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000" y="15840000"/>
            <a:ext cx="30240000" cy="916206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80000" y="25362065"/>
            <a:ext cx="147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0072B2"/>
                </a:solidFill>
              </a:defRPr>
            </a:pPr>
            <a:r>
              <a:t>Does it work?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0000" y="26190065"/>
            <a:ext cx="14760000" cy="3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0"/>
            </a:pPr>
            <a:r>
              <a:t>Ten simulated generations: the recommender cut realised inbreeding by 1.5 points in the small breed and nearly removed affected puppies at tested loci. Long-term diversity needs coordinated sire use: random mating kept Ne at 87 versus 32.</a:t>
            </a:r>
          </a:p>
        </p:txBody>
      </p:sp>
      <p:pic>
        <p:nvPicPr>
          <p:cNvPr id="17" name="Picture 16" descr="figA_realised_inbreeding_po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000" y="29502065"/>
            <a:ext cx="14760000" cy="627902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560000" y="25362065"/>
            <a:ext cx="147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0072B2"/>
                </a:solidFill>
              </a:defRPr>
            </a:pPr>
            <a:r>
              <a:t>Explainable matches</a:t>
            </a:r>
          </a:p>
        </p:txBody>
      </p:sp>
      <p:pic>
        <p:nvPicPr>
          <p:cNvPr id="19" name="Picture 18" descr="scorec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60000" y="26262065"/>
            <a:ext cx="14760000" cy="76741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80000" y="36141092"/>
            <a:ext cx="147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072B2"/>
                </a:solidFill>
              </a:defRPr>
            </a:pPr>
            <a:r>
              <a:t>Honesty box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0000" y="36969092"/>
            <a:ext cx="1476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0"/>
            </a:pPr>
            <a:r>
              <a:t>All dogs are synthetic. Results are in silico. Some EU rules are not yet verified.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560000" y="36141092"/>
            <a:ext cx="147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072B2"/>
                </a:solidFill>
              </a:defRPr>
            </a:pPr>
            <a:r>
              <a:t>Partner with 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560000" y="36969092"/>
            <a:ext cx="1476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0"/>
            </a:pPr>
            <a:r>
              <a:t>Free pilot for kennel and breed clubs; code runs on your premises.</a:t>
            </a:r>
          </a:p>
          <a:p>
            <a:pPr>
              <a:defRPr sz="2800" b="0"/>
            </a:pPr>
            <a:r>
              <a:t>[QR: demo, DOI, contact]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0000" y="41760000"/>
            <a:ext cx="3024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/>
            </a:pPr>
            <a:r>
              <a:t>Refs: Bannasch 2021; Lewis 2015; Donner 2023; Meuwissen and Luo 1992; Colleau 2002.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